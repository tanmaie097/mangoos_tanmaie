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2"/>
  </p:normalViewPr>
  <p:slideViewPr>
    <p:cSldViewPr snapToGrid="0">
      <p:cViewPr varScale="1">
        <p:scale>
          <a:sx n="118" d="100"/>
          <a:sy n="118" d="100"/>
        </p:scale>
        <p:origin x="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34C9-8E0E-549D-CDEA-547EB6CC2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B3CEE-CDF2-D644-E8B4-DA750FE18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477CF-B69C-BE3E-09B8-712481B7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9F9A1-D845-587F-F395-19167507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803B2-68FD-448C-1368-9DB16756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2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FCB5-18ED-A2CB-8ADD-CAEAACD7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F4CC-3B3B-8380-DEB3-5862B2957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4CDF3-6B08-8F18-A0CC-9ECAF42D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2EFD4-D79A-552E-DA55-6AEAA6F9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4C39C-C144-9C24-DFD7-CEFD664A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3035-F53C-9508-B449-8FC0F8E2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7228-9E1F-DB0C-BB3F-C8615106B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2CB3-D255-D904-F14F-DA809CD9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50020-3D5A-CC0A-3303-FADBDDFF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92CF-9916-076E-887F-E5EE440B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8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E33D-EBAC-CAE2-7F2D-A24EB16C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D4AE-4909-E091-0C1E-640A4C709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2367E-61E5-F905-AAC9-4311CF9AE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9393A-4A21-74C5-4F76-573F5370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2A310-E990-6D61-23D4-0830E43D0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1D538-2F55-A895-01FE-1181DB53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4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D72C-5876-10B9-7AEE-42968C03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65956-54F5-C0E0-C8AE-73F8209D0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760-46D5-84D2-35F1-AC17B65A7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BBAEA-D4A0-3D7C-DC4A-67BCF13A0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B3AC1-BF4C-76AB-368B-0998651AE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A484B3-F926-10D7-83F8-DFC96583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1A975-0CA7-723A-9F51-1B7039FA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AD41D-ADCF-B7BC-4A97-0CF4F5F3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97E2-FFC2-FABA-28B6-FE24C861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CDC95-1A24-B988-3BA4-D3BA20B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F3AF4-E29A-04F3-0300-5955F431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E3C1A-9277-12DB-C357-F6FBD5EA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4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7BC18-BBE7-951E-3187-E18EE24E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7B81A-D4B7-6191-6684-A2BAA449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E0263-2C53-CA9C-0593-A4EBFF52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9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FC75-05FA-E709-D6B9-CB745315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C9CD-32CC-6AB9-445F-23E6CCB16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5FF6A-1845-199F-B31B-998275BB8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42145-6E45-AEFC-9918-4188AF82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BFB99-14F3-1D22-21C8-7FD61A96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DD7E7-D440-3D35-CEBD-2DCE4287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9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B2D2-E2C7-3C31-5E3C-A858CAFC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230BE0-4190-09B8-1BCC-22CF3A45B6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B5955-E226-46C3-106A-D3374E3B3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DD363-F564-D0F0-4702-83D965DA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AF5C6-534D-03E7-4060-D0E26308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98FB5-95C1-D036-1BE4-55D37DA8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3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4AFD-DD74-DA7B-B0A4-3344CA1E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2DCB4-6BA4-944A-2BA4-9498AD39F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C3835-BB60-CBD0-6CC6-A3E1FD52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DDDD0-9949-2785-7859-DF99D3E7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64E72-D791-D4EA-767D-C0B31F01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9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FFC47-D4BA-0626-B85B-E4F5FF6A0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B06C1-337B-8304-033E-1F5FA3318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F87B4-898C-4B85-7DEC-EC4BB766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B9130-D9EF-E54E-DF98-37F116BD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07E10-B9D7-E9E4-3EA0-2D3AA9FA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1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3DA70-2D88-1382-E82E-CB522A30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B39A7-B41E-C18D-DB07-2B6989DFD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0B7B-656E-1A6B-58C0-9529F8603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51117-5A08-354D-AD91-39626547FC6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8629D-A2AD-FA3D-359B-83CBAC357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75AC6-C19E-9F0D-E40C-38AF5F543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EF511-D218-9146-8541-81C909BBE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F05A5-49FA-073A-318A-31EF1CE6D0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Snowflake vs Cloudera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NiFi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/ Hive / Spark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93D4B-EC2A-6315-4D61-503532A22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u</a:t>
            </a:r>
            <a:r>
              <a:rPr lang="en-IN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nderstanding</a:t>
            </a:r>
            <a:r>
              <a:rPr lang="en-IN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How a Modern Cloud Warehouse Differs From a Hadoop Big Data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0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FBAE-4E70-47D5-1A46-2A243605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F4E7E-DBF6-2C14-7901-77CFC4875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What is Snowflake?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What is Cloudera (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NiFi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/ Hive / Spark)?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Architecture differences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Component-by-component comparison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 cases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Final summary</a:t>
            </a:r>
          </a:p>
        </p:txBody>
      </p:sp>
    </p:spTree>
    <p:extLst>
      <p:ext uri="{BB962C8B-B14F-4D97-AF65-F5344CB8AC3E}">
        <p14:creationId xmlns:p14="http://schemas.microsoft.com/office/powerpoint/2010/main" val="4065301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5A12-93E9-D437-71BA-587A9350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What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is Snowflake?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619E-A22C-8E74-641C-9C1EB5C19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0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A fully managed, cloud-native data warehouse that provides: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Automatic scaling -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Separate compute &amp; storage – EC2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Extremely fast SQL analytics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Zero maintenance (SaaS)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Native handling of semi-structured data (JSON, Parquet, Avro)</a:t>
            </a:r>
          </a:p>
        </p:txBody>
      </p:sp>
    </p:spTree>
    <p:extLst>
      <p:ext uri="{BB962C8B-B14F-4D97-AF65-F5344CB8AC3E}">
        <p14:creationId xmlns:p14="http://schemas.microsoft.com/office/powerpoint/2010/main" val="230722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44D5-E417-F8E2-7751-1DDBBFEC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What is Cloudera?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78A13-3007-91B6-7A32-3563DD031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</a:rPr>
              <a:t>A Hadoop ecosystem combining multiple tools:</a:t>
            </a:r>
          </a:p>
          <a:p>
            <a:pPr marL="0" indent="0" algn="l">
              <a:buNone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N" sz="2000" b="1" i="0" u="none" strike="noStrike" dirty="0" err="1">
                <a:solidFill>
                  <a:srgbClr val="000000"/>
                </a:solidFill>
                <a:effectLst/>
              </a:rPr>
              <a:t>NiFi</a:t>
            </a:r>
            <a:endParaRPr lang="en-IN" sz="20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</a:rPr>
              <a:t>Real-time ingestion &amp; flow management</a:t>
            </a:r>
          </a:p>
          <a:p>
            <a:pPr marL="0" indent="0" algn="l">
              <a:buNone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N" sz="2000" b="1" i="0" u="none" strike="noStrike" dirty="0">
                <a:solidFill>
                  <a:srgbClr val="000000"/>
                </a:solidFill>
                <a:effectLst/>
              </a:rPr>
              <a:t>Hive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</a:rPr>
              <a:t>SQL engine for querying Hadoop data</a:t>
            </a:r>
          </a:p>
          <a:p>
            <a:pPr marL="0" indent="0" algn="l">
              <a:buNone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</a:rPr>
              <a:t> Spark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</a:rPr>
              <a:t>Distributed processing engine for ETL, ML, and analytics</a:t>
            </a:r>
          </a:p>
          <a:p>
            <a:endParaRPr lang="en-US" sz="2000" dirty="0"/>
          </a:p>
          <a:p>
            <a:endParaRPr lang="en-US" sz="20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A customizable big data environment for ingestion + storage + compute.</a:t>
            </a:r>
            <a:endParaRPr lang="en-U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71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3D2B-097D-19DB-270D-030DC3C8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Snowflake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8CA8-77B5-82F6-30FD-F3D11E1DB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Cloud object storage (S3/Azure/GCP)</a:t>
            </a:r>
          </a:p>
          <a:p>
            <a:r>
              <a:rPr lang="en-IN" sz="2200" dirty="0"/>
              <a:t>Virtual warehouses for compute</a:t>
            </a:r>
          </a:p>
          <a:p>
            <a:r>
              <a:rPr lang="en-IN" sz="2200" dirty="0"/>
              <a:t>Query processing engine</a:t>
            </a:r>
          </a:p>
          <a:p>
            <a:r>
              <a:rPr lang="en-IN" sz="2200" dirty="0"/>
              <a:t>Micro-partitioned, columnar storage</a:t>
            </a:r>
          </a:p>
        </p:txBody>
      </p:sp>
    </p:spTree>
    <p:extLst>
      <p:ext uri="{BB962C8B-B14F-4D97-AF65-F5344CB8AC3E}">
        <p14:creationId xmlns:p14="http://schemas.microsoft.com/office/powerpoint/2010/main" val="196184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0115-94E3-CCAB-92AA-D5881B33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83ED5-6479-314B-7C43-BF032B56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Snowflake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1D596-8917-3E86-E022-142CDF246A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Fully managed warehouse</a:t>
            </a:r>
          </a:p>
          <a:p>
            <a:r>
              <a:rPr lang="en-IN" sz="1800" dirty="0"/>
              <a:t>No clusters</a:t>
            </a:r>
          </a:p>
          <a:p>
            <a:r>
              <a:rPr lang="en-IN" sz="1800" dirty="0"/>
              <a:t>SQL-focused analytics</a:t>
            </a:r>
          </a:p>
          <a:p>
            <a:r>
              <a:rPr lang="en-IN" sz="1800" dirty="0"/>
              <a:t>Cloud-native, elastic scaling</a:t>
            </a:r>
          </a:p>
          <a:p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81FB5-80BA-1DF0-3A00-FBC0E1B9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</a:rPr>
              <a:t>Cloudera Stack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FB107-A5C8-5EB3-AD8D-2BDC4A899D2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Self-managed or hybrid</a:t>
            </a:r>
          </a:p>
          <a:p>
            <a:r>
              <a:rPr lang="en-IN" sz="1800" dirty="0"/>
              <a:t>Multiple components working together</a:t>
            </a:r>
          </a:p>
          <a:p>
            <a:r>
              <a:rPr lang="en-IN" sz="1800" dirty="0"/>
              <a:t>Suitable for batch, ML, streaming</a:t>
            </a:r>
          </a:p>
          <a:p>
            <a:r>
              <a:rPr lang="en-IN" sz="1800" dirty="0"/>
              <a:t>Requires operational expertise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1617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AF18-CA9F-BA2A-AD92-7EDF25CE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43FC-4CCC-5393-F298-7BB72CAD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: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F6E15-11AD-AE93-55B5-501DAFB0B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Snowflake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E4F80-7246-99B7-E535-2DB0AAAFB5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Fast SQL engine</a:t>
            </a:r>
          </a:p>
          <a:p>
            <a:r>
              <a:rPr lang="en-IN" sz="1600" dirty="0"/>
              <a:t>Built-in performance optimization</a:t>
            </a:r>
          </a:p>
          <a:p>
            <a:r>
              <a:rPr lang="en-IN" sz="1600" dirty="0"/>
              <a:t>Stores data in managed cloud storage</a:t>
            </a:r>
          </a:p>
          <a:p>
            <a:r>
              <a:rPr lang="en-IN" sz="1600" dirty="0"/>
              <a:t>No infrastructure to manage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7F0F2-4308-4F60-5913-72295EB88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</a:rPr>
              <a:t>Hive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D40AE-AEAD-3FDF-3C2E-BE4527797C0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SQL engine running on Hadoop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Performance depends on MapReduce / Tez / Spark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Requires tuning, partitioning, cluster ops</a:t>
            </a:r>
          </a:p>
        </p:txBody>
      </p:sp>
    </p:spTree>
    <p:extLst>
      <p:ext uri="{BB962C8B-B14F-4D97-AF65-F5344CB8AC3E}">
        <p14:creationId xmlns:p14="http://schemas.microsoft.com/office/powerpoint/2010/main" val="137547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DE35A-1435-5A14-B124-D4986507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ADBD-A712-669A-A9B2-5506B0E9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: ML/complex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8F7E9-AB00-E267-8C81-18AC2896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Snowflake</a:t>
            </a:r>
            <a:r>
              <a:rPr lang="en-IN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E4AB2-6039-77A3-78B8-1778FEB9D3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SQL-only transformations (ELT)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Best for BI, dashboards, analytics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No general-purpose ML/Streaming engine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31C57-AF33-C3BE-1C0E-90C139A00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Spark</a:t>
            </a:r>
            <a:endParaRPr lang="en-IN" i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93C586-F901-3E21-8F5F-83D54041196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Distributed compute engine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Supports ETL, </a:t>
            </a:r>
            <a:r>
              <a:rPr lang="en-IN" sz="1500" b="0" i="0" u="none" strike="noStrike" dirty="0" err="1">
                <a:solidFill>
                  <a:srgbClr val="000000"/>
                </a:solidFill>
                <a:effectLst/>
              </a:rPr>
              <a:t>MLlib</a:t>
            </a: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, Streaming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Requires coding (</a:t>
            </a:r>
            <a:r>
              <a:rPr lang="en-IN" sz="1500" b="0" i="0" u="none" strike="noStrike" dirty="0" err="1">
                <a:solidFill>
                  <a:srgbClr val="000000"/>
                </a:solidFill>
                <a:effectLst/>
              </a:rPr>
              <a:t>PySpark</a:t>
            </a: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/Scala)</a:t>
            </a:r>
          </a:p>
        </p:txBody>
      </p:sp>
    </p:spTree>
    <p:extLst>
      <p:ext uri="{BB962C8B-B14F-4D97-AF65-F5344CB8AC3E}">
        <p14:creationId xmlns:p14="http://schemas.microsoft.com/office/powerpoint/2010/main" val="2200112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9E8B-E918-455E-3E91-848738FA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F0FA-A7A4-5105-E242-4662A76E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: ingestion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4BA01-2E1C-9E08-2078-839F225CF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Snowflake</a:t>
            </a:r>
            <a:r>
              <a:rPr lang="en-IN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0E6E8-B4FD-0B96-7E3F-C200565628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1500" dirty="0"/>
              <a:t>Not an ingestion tool</a:t>
            </a:r>
          </a:p>
          <a:p>
            <a:r>
              <a:rPr lang="en-IN" sz="1500" dirty="0"/>
              <a:t>Uses </a:t>
            </a:r>
            <a:r>
              <a:rPr lang="en-IN" sz="1500" dirty="0" err="1"/>
              <a:t>Snowpipe</a:t>
            </a:r>
            <a:r>
              <a:rPr lang="en-IN" sz="1500" dirty="0"/>
              <a:t>, Kafka connectors, </a:t>
            </a:r>
            <a:r>
              <a:rPr lang="en-IN" sz="1500" dirty="0" err="1"/>
              <a:t>Fivetran</a:t>
            </a:r>
            <a:r>
              <a:rPr lang="en-IN" sz="1500" dirty="0"/>
              <a:t>, etc.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5F8E-DFE5-AC6E-B807-9455E77BA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i="0" u="none" strike="noStrike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Nifi</a:t>
            </a:r>
            <a:endParaRPr lang="en-IN" i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C096A-38C1-7E16-C03A-B466BC6322A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sz="1500" dirty="0"/>
              <a:t>Real-time ingestion + routing</a:t>
            </a:r>
          </a:p>
          <a:p>
            <a:r>
              <a:rPr lang="en-IN" sz="1500" dirty="0"/>
              <a:t>Flow-based programming</a:t>
            </a:r>
          </a:p>
          <a:p>
            <a:r>
              <a:rPr lang="en-IN" sz="1500" dirty="0"/>
              <a:t>Handles thousands of data sources</a:t>
            </a:r>
          </a:p>
        </p:txBody>
      </p:sp>
    </p:spTree>
    <p:extLst>
      <p:ext uri="{BB962C8B-B14F-4D97-AF65-F5344CB8AC3E}">
        <p14:creationId xmlns:p14="http://schemas.microsoft.com/office/powerpoint/2010/main" val="2883119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C591-06EF-219F-D991-4BE5FB92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B734-BF08-4A83-7803-DF181551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: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7C727-90BC-44C0-01D3-DCF53E43A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Snowflake</a:t>
            </a:r>
            <a:r>
              <a:rPr lang="en-IN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D560-080B-C778-CE3A-B84997A162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1500" dirty="0"/>
              <a:t>One unified platform</a:t>
            </a:r>
          </a:p>
          <a:p>
            <a:r>
              <a:rPr lang="en-IN" sz="1500" dirty="0"/>
              <a:t>Storage + Compute separation</a:t>
            </a:r>
          </a:p>
          <a:p>
            <a:r>
              <a:rPr lang="en-IN" sz="1500" dirty="0"/>
              <a:t>SQL engine</a:t>
            </a:r>
          </a:p>
          <a:p>
            <a:r>
              <a:rPr lang="en-IN" sz="1500" dirty="0"/>
              <a:t>Automatic performance optimization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7D5AF-1985-30DA-EADE-E4BDD39D2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Cloudera</a:t>
            </a:r>
            <a:endParaRPr lang="en-IN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F68BC-E239-29E7-08DD-6B880C152D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sz="1500" dirty="0"/>
              <a:t>Multi-component architecture:</a:t>
            </a:r>
          </a:p>
          <a:p>
            <a:pPr marL="0" indent="0">
              <a:buNone/>
            </a:pPr>
            <a:r>
              <a:rPr lang="en-IN" sz="1500" dirty="0"/>
              <a:t>         </a:t>
            </a:r>
            <a:r>
              <a:rPr lang="en-IN" sz="1500" dirty="0" err="1"/>
              <a:t>NiFi</a:t>
            </a:r>
            <a:r>
              <a:rPr lang="en-IN" sz="1500" dirty="0"/>
              <a:t> → Ingestion</a:t>
            </a:r>
          </a:p>
          <a:p>
            <a:pPr marL="0" indent="0">
              <a:buNone/>
            </a:pPr>
            <a:r>
              <a:rPr lang="en-IN" sz="1500" dirty="0"/>
              <a:t>         HDFS/Hive → Storage + SQL</a:t>
            </a:r>
          </a:p>
          <a:p>
            <a:pPr marL="0" indent="0">
              <a:buNone/>
            </a:pPr>
            <a:r>
              <a:rPr lang="en-IN" sz="1500" dirty="0"/>
              <a:t>        Spark → Processing</a:t>
            </a:r>
          </a:p>
          <a:p>
            <a:r>
              <a:rPr lang="en-IN" sz="1500" dirty="0"/>
              <a:t>Requires more engineering + </a:t>
            </a:r>
            <a:r>
              <a:rPr lang="en-IN" sz="1500" dirty="0" err="1"/>
              <a:t>devops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93430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2A80-1A64-DDC7-981B-8161CAD50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1B4F-8454-7ABF-0ACA-38C42CB9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use????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99C3B-A0ED-B191-45CB-C5891F2D4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Snowflake</a:t>
            </a:r>
            <a:r>
              <a:rPr lang="en-IN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48BA0-3BC0-AAEB-B9AC-CD971976D7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want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fast SQL analytics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want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zero maintenance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want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elastic scaling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want to avoid cluster administration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need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dashboards, BI tools, KPI analytics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E8EC4-CA9E-C86C-8ED7-F2A6F46AB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Cloudera</a:t>
            </a:r>
            <a:endParaRPr lang="en-IN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0929F-895B-6010-FED3-C9C06FB3BB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need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real-time ingestion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need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custom compute (ETL/ML/streaming)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want a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Hadoop data lake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have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on-premise deployments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0" i="0" u="none" strike="noStrike" dirty="0">
                <a:solidFill>
                  <a:srgbClr val="000000"/>
                </a:solidFill>
                <a:effectLst/>
              </a:rPr>
              <a:t>You want to integrate </a:t>
            </a:r>
            <a:r>
              <a:rPr lang="en-IN" sz="1500" b="1" i="0" u="none" strike="noStrike" dirty="0">
                <a:solidFill>
                  <a:srgbClr val="000000"/>
                </a:solidFill>
                <a:effectLst/>
              </a:rPr>
              <a:t>Spark pipelines</a:t>
            </a:r>
            <a:endParaRPr lang="en-IN" sz="15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801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DABBCE-1738-DF4C-D164-E52E05577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895931"/>
              </p:ext>
            </p:extLst>
          </p:nvPr>
        </p:nvGraphicFramePr>
        <p:xfrm>
          <a:off x="838200" y="868680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241170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350668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8889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Snowflake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Cloudera (NiFi / Hive / Spark)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036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Cloud 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Big data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88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Managed?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Fully 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Needs cluster 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488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Strong (NiFi)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09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SQL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Moderate–High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73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ETL /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ELT (SQL 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Spark supports ML + ETL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376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Manual/Hybrid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1037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243F953-6B75-9393-08F4-F48AA336073B}"/>
              </a:ext>
            </a:extLst>
          </p:cNvPr>
          <p:cNvSpPr txBox="1"/>
          <p:nvPr/>
        </p:nvSpPr>
        <p:spPr>
          <a:xfrm>
            <a:off x="838200" y="4763477"/>
            <a:ext cx="85997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Snowflake is a cloud-native analytics warehouse optimized for speed and simplicity, while Cloudera provides a flexible big data ecosystem for ingestion, storage, and distributed processing.</a:t>
            </a:r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508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501</Words>
  <Application>Microsoft Macintosh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-webkit-standard</vt:lpstr>
      <vt:lpstr>Aptos</vt:lpstr>
      <vt:lpstr>Aptos Display</vt:lpstr>
      <vt:lpstr>Arial</vt:lpstr>
      <vt:lpstr>Helvetica</vt:lpstr>
      <vt:lpstr>Office Theme</vt:lpstr>
      <vt:lpstr>Snowflake vs Cloudera NiFi / Hive / Spark</vt:lpstr>
      <vt:lpstr>Agenda</vt:lpstr>
      <vt:lpstr>What is Snowflake?</vt:lpstr>
      <vt:lpstr>What is Cloudera?</vt:lpstr>
      <vt:lpstr>Snowflake Architecture</vt:lpstr>
      <vt:lpstr>Key differences</vt:lpstr>
      <vt:lpstr>Key differences : analytics</vt:lpstr>
      <vt:lpstr>Key differences : ML/complex pipelines</vt:lpstr>
      <vt:lpstr>Key differences : ingestion</vt:lpstr>
      <vt:lpstr>Key differences : Architecture</vt:lpstr>
      <vt:lpstr>When to use????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Tanmaie Uppari</dc:creator>
  <cp:lastModifiedBy>Tanmaie Uppari</cp:lastModifiedBy>
  <cp:revision>18</cp:revision>
  <dcterms:created xsi:type="dcterms:W3CDTF">2025-12-09T12:37:42Z</dcterms:created>
  <dcterms:modified xsi:type="dcterms:W3CDTF">2025-12-09T12:56:51Z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2-bc88714345d2_Enabled">
    <vt:lpwstr>true</vt:lpwstr>
  </property>
  <property fmtid="{D5CDD505-2E9C-101B-9397-08002B2CF9AE}" pid="3" name="MSIP_Label_defa4170-0d19-0005-0002-bc88714345d2_SetDate">
    <vt:lpwstr>2025-12-09T12:38:57Z</vt:lpwstr>
  </property>
  <property fmtid="{D5CDD505-2E9C-101B-9397-08002B2CF9AE}" pid="4" name="MSIP_Label_defa4170-0d19-0005-0002-bc88714345d2_Method">
    <vt:lpwstr>Privileged</vt:lpwstr>
  </property>
  <property fmtid="{D5CDD505-2E9C-101B-9397-08002B2CF9AE}" pid="5" name="MSIP_Label_defa4170-0d19-0005-0002-bc88714345d2_Name">
    <vt:lpwstr>defa4170-0d19-0005-0002-bc88714345d2</vt:lpwstr>
  </property>
  <property fmtid="{D5CDD505-2E9C-101B-9397-08002B2CF9AE}" pid="6" name="MSIP_Label_defa4170-0d19-0005-0002-bc88714345d2_SiteId">
    <vt:lpwstr>f8732124-c5e2-4e51-9ce1-5530ffc7be54</vt:lpwstr>
  </property>
  <property fmtid="{D5CDD505-2E9C-101B-9397-08002B2CF9AE}" pid="7" name="MSIP_Label_defa4170-0d19-0005-0002-bc88714345d2_ActionId">
    <vt:lpwstr>f8b3847d-e883-4dfe-af30-86fbee7e9b90</vt:lpwstr>
  </property>
  <property fmtid="{D5CDD505-2E9C-101B-9397-08002B2CF9AE}" pid="8" name="MSIP_Label_defa4170-0d19-0005-0002-bc88714345d2_ContentBits">
    <vt:lpwstr>0</vt:lpwstr>
  </property>
</Properties>
</file>